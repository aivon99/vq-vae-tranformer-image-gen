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Noto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otoSans-bold.fntdata"/><Relationship Id="rId30" Type="http://schemas.openxmlformats.org/officeDocument/2006/relationships/font" Target="fonts/NotoSans-regular.fntdata"/><Relationship Id="rId11" Type="http://schemas.openxmlformats.org/officeDocument/2006/relationships/slide" Target="slides/slide6.xml"/><Relationship Id="rId33" Type="http://schemas.openxmlformats.org/officeDocument/2006/relationships/font" Target="fonts/NotoSans-boldItalic.fntdata"/><Relationship Id="rId10" Type="http://schemas.openxmlformats.org/officeDocument/2006/relationships/slide" Target="slides/slide5.xml"/><Relationship Id="rId32" Type="http://schemas.openxmlformats.org/officeDocument/2006/relationships/font" Target="fonts/Noto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ae479a94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" name="Google Shape;18;g3ae479a94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ae479a94c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ae479a94c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e479a94c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ae479a94c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e479a94cc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ae479a94cc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e479a94cc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ae479a94cc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479a94cc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ae479a94cc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e479a94cc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ae479a94cc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e479a94c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ae479a94c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e479a94c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ae479a94c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e479a94c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e479a94c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e479a94c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ae479a94c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e479a94cc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ae479a94cc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e479a94cc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e479a94cc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e479a94cc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ae479a94cc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e479a94cc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ae479a94cc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e479a94c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e479a94c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e479a94c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ae479a94c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>
  <p:cSld name="제목만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569"/>
            <a:ext cx="9144000" cy="514036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/>
        </p:nvSpPr>
        <p:spPr>
          <a:xfrm>
            <a:off x="8779258" y="4261098"/>
            <a:ext cx="4493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749900"/>
            <a:ext cx="671542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36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4294967295" type="title"/>
          </p:nvPr>
        </p:nvSpPr>
        <p:spPr>
          <a:xfrm>
            <a:off x="358675" y="1187084"/>
            <a:ext cx="85206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VQ-VAE + Transformer for Image Generation with CFG</a:t>
            </a:r>
            <a:endParaRPr/>
          </a:p>
        </p:txBody>
      </p:sp>
      <p:sp>
        <p:nvSpPr>
          <p:cNvPr id="21" name="Google Shape;21;p4"/>
          <p:cNvSpPr txBox="1"/>
          <p:nvPr/>
        </p:nvSpPr>
        <p:spPr>
          <a:xfrm>
            <a:off x="358675" y="2973166"/>
            <a:ext cx="85206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2025.12.08(Thu), Special topics in DeepLearning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 txBox="1"/>
          <p:nvPr/>
        </p:nvSpPr>
        <p:spPr>
          <a:xfrm>
            <a:off x="311700" y="3486468"/>
            <a:ext cx="85206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Patrick Astorga, Ivo Rambaldi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/>
        </p:nvSpPr>
        <p:spPr>
          <a:xfrm>
            <a:off x="187959" y="235814"/>
            <a:ext cx="552706" cy="271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00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584700" y="106675"/>
            <a:ext cx="1505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Outline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311700" y="661000"/>
            <a:ext cx="85206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584701" y="872804"/>
            <a:ext cx="4951997" cy="255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 and Background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VQ-VAE +</a:t>
            </a:r>
            <a:r>
              <a:rPr lang="en-US" sz="2000">
                <a:solidFill>
                  <a:schemeClr val="dk1"/>
                </a:solidFill>
              </a:rPr>
              <a:t> training results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Transformer Prior </a:t>
            </a:r>
            <a:r>
              <a:rPr lang="en-US" sz="2000">
                <a:solidFill>
                  <a:schemeClr val="dk1"/>
                </a:solidFill>
              </a:rPr>
              <a:t>+ training results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Classifier Free Guidance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(CFG)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/>
        </p:nvSpPr>
        <p:spPr>
          <a:xfrm>
            <a:off x="187959" y="235814"/>
            <a:ext cx="552706" cy="271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584700" y="106675"/>
            <a:ext cx="2424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Motivation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661000"/>
            <a:ext cx="85206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US" sz="1829">
                <a:solidFill>
                  <a:schemeClr val="dk1"/>
                </a:solidFill>
              </a:rPr>
              <a:t>Generative modeling of images:</a:t>
            </a:r>
            <a:endParaRPr b="1" sz="1829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829">
                <a:solidFill>
                  <a:schemeClr val="dk1"/>
                </a:solidFill>
              </a:rPr>
              <a:t>Images are sequences of pixels. Since Transformer models dominate with sequence modeling tasks today, </a:t>
            </a:r>
            <a:r>
              <a:rPr i="1" lang="en-US" sz="1829">
                <a:solidFill>
                  <a:schemeClr val="dk1"/>
                </a:solidFill>
              </a:rPr>
              <a:t>can we model images with Transformers?</a:t>
            </a:r>
            <a:endParaRPr sz="1829">
              <a:solidFill>
                <a:schemeClr val="dk1"/>
              </a:solidFill>
            </a:endParaRPr>
          </a:p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b="47772" l="51174" r="0" t="0"/>
          <a:stretch/>
        </p:blipFill>
        <p:spPr>
          <a:xfrm>
            <a:off x="5738650" y="2056237"/>
            <a:ext cx="2692900" cy="14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/>
          <p:nvPr/>
        </p:nvSpPr>
        <p:spPr>
          <a:xfrm>
            <a:off x="352775" y="1903900"/>
            <a:ext cx="50763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Upsides of Transformers: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Models long range dependencies just as easy as short range dependencies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Downsides of Transformers: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Computationally expensive, compute grows quadratically with sequence length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584700" y="106675"/>
            <a:ext cx="2424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Motivation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" name="Google Shape;46;p7"/>
          <p:cNvSpPr txBox="1"/>
          <p:nvPr/>
        </p:nvSpPr>
        <p:spPr>
          <a:xfrm>
            <a:off x="311700" y="661000"/>
            <a:ext cx="85206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Generative modeling of images: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Convolutional Neural Networks (CNNs) are tried and true for image data.</a:t>
            </a:r>
            <a:endParaRPr i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317100" y="4241225"/>
            <a:ext cx="8509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Let a </a:t>
            </a:r>
            <a:r>
              <a:rPr b="1" lang="en-US">
                <a:solidFill>
                  <a:schemeClr val="dk1"/>
                </a:solidFill>
              </a:rPr>
              <a:t>CNN model short range dependencies, and a Transformer model long range dependencies!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311700" y="1392300"/>
            <a:ext cx="5385900" cy="29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Upsides of Convolutional Neural Networks (CNNs):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Models short range pixel dependencies better than Transformers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Computational complexity stays low for high dimensional data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Downsides of Convolutional Neural Networks (CNNs):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Does not model long range dependencies well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9" name="Google Shape;4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900" y="1854375"/>
            <a:ext cx="3154374" cy="181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" name="Google Shape;55;p8"/>
          <p:cNvSpPr txBox="1"/>
          <p:nvPr/>
        </p:nvSpPr>
        <p:spPr>
          <a:xfrm>
            <a:off x="584700" y="106675"/>
            <a:ext cx="2424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Background 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311700" y="661000"/>
            <a:ext cx="8520600" cy="19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VQ-VAE: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Autoencoder (AE) with a </a:t>
            </a:r>
            <a:r>
              <a:rPr lang="en-US" sz="1800">
                <a:solidFill>
                  <a:schemeClr val="dk1"/>
                </a:solidFill>
              </a:rPr>
              <a:t>Vector </a:t>
            </a:r>
            <a:r>
              <a:rPr lang="en-US" sz="1800">
                <a:solidFill>
                  <a:schemeClr val="dk1"/>
                </a:solidFill>
              </a:rPr>
              <a:t>Quantization (VQ) layer added to the bottleneck.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AE: Bi-directional </a:t>
            </a:r>
            <a:r>
              <a:rPr lang="en-US" sz="1800">
                <a:solidFill>
                  <a:schemeClr val="dk1"/>
                </a:solidFill>
              </a:rPr>
              <a:t>mapping</a:t>
            </a:r>
            <a:r>
              <a:rPr lang="en-US" sz="1800">
                <a:solidFill>
                  <a:schemeClr val="dk1"/>
                </a:solidFill>
              </a:rPr>
              <a:t> from X → Z, allowing us to </a:t>
            </a:r>
            <a:r>
              <a:rPr i="1" lang="en-US" sz="1800">
                <a:solidFill>
                  <a:schemeClr val="dk1"/>
                </a:solidFill>
              </a:rPr>
              <a:t>shift our generative focus to Z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VQ layer: Concentrates </a:t>
            </a:r>
            <a:r>
              <a:rPr lang="en-US" sz="1800">
                <a:solidFill>
                  <a:schemeClr val="dk1"/>
                </a:solidFill>
              </a:rPr>
              <a:t>probability</a:t>
            </a:r>
            <a:r>
              <a:rPr lang="en-US" sz="1800">
                <a:solidFill>
                  <a:schemeClr val="dk1"/>
                </a:solidFill>
              </a:rPr>
              <a:t> mass in the decoder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176" y="2571750"/>
            <a:ext cx="4872451" cy="202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/>
          <p:nvPr/>
        </p:nvSpPr>
        <p:spPr>
          <a:xfrm>
            <a:off x="311700" y="2437075"/>
            <a:ext cx="3460500" cy="18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Discrete latent space is compatible with existing generative models.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Originally, a CNN prior is used to model Z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584700" y="106675"/>
            <a:ext cx="2424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Background 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311700" y="661000"/>
            <a:ext cx="85206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Autoregressive </a:t>
            </a:r>
            <a:r>
              <a:rPr b="1" lang="en-US" sz="1800">
                <a:solidFill>
                  <a:schemeClr val="dk1"/>
                </a:solidFill>
              </a:rPr>
              <a:t>Transformer</a:t>
            </a:r>
            <a:r>
              <a:rPr b="1" lang="en-US" sz="1800">
                <a:solidFill>
                  <a:schemeClr val="dk1"/>
                </a:solidFill>
              </a:rPr>
              <a:t>: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Generative model on sequences of discrete tokens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Uses the Attention mechanism to model dependencies between tokens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Alternates attention layers with token-wise MLPs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Output is a </a:t>
            </a:r>
            <a:r>
              <a:rPr lang="en-US" sz="1800">
                <a:solidFill>
                  <a:schemeClr val="dk1"/>
                </a:solidFill>
              </a:rPr>
              <a:t>probability</a:t>
            </a:r>
            <a:r>
              <a:rPr lang="en-US" sz="1800">
                <a:solidFill>
                  <a:schemeClr val="dk1"/>
                </a:solidFill>
              </a:rPr>
              <a:t> distribution of the next token in the sequence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3">
            <a:alphaModFix/>
          </a:blip>
          <a:srcRect b="7502" l="0" r="0" t="6357"/>
          <a:stretch/>
        </p:blipFill>
        <p:spPr>
          <a:xfrm>
            <a:off x="1361275" y="2522175"/>
            <a:ext cx="6421450" cy="204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" name="Google Shape;72;p10"/>
          <p:cNvSpPr txBox="1"/>
          <p:nvPr/>
        </p:nvSpPr>
        <p:spPr>
          <a:xfrm>
            <a:off x="584700" y="106675"/>
            <a:ext cx="2424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Background 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" name="Google Shape;73;p10"/>
          <p:cNvSpPr txBox="1"/>
          <p:nvPr/>
        </p:nvSpPr>
        <p:spPr>
          <a:xfrm>
            <a:off x="311700" y="661000"/>
            <a:ext cx="8520600" cy="23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Classifier-Free Guidance (CFG)</a:t>
            </a:r>
            <a:r>
              <a:rPr b="1" lang="en-US" sz="1800">
                <a:solidFill>
                  <a:schemeClr val="dk1"/>
                </a:solidFill>
              </a:rPr>
              <a:t>: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A crucial strategy for conditional generation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Generative model learns conditional + unconditional distribution simultaneously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Conditional </a:t>
            </a:r>
            <a:r>
              <a:rPr lang="en-US" sz="1800">
                <a:solidFill>
                  <a:schemeClr val="dk1"/>
                </a:solidFill>
              </a:rPr>
              <a:t>distribution “guides” unconditional distribution with adjustable intensity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00" y="3228734"/>
            <a:ext cx="8146800" cy="385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362400" y="1473050"/>
            <a:ext cx="3958500" cy="208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 txBox="1"/>
          <p:nvPr/>
        </p:nvSpPr>
        <p:spPr>
          <a:xfrm>
            <a:off x="187959" y="235814"/>
            <a:ext cx="552706" cy="271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" name="Google Shape;81;p11"/>
          <p:cNvSpPr txBox="1"/>
          <p:nvPr/>
        </p:nvSpPr>
        <p:spPr>
          <a:xfrm>
            <a:off x="584700" y="106675"/>
            <a:ext cx="56388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Overall Pipeline: Training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334800" y="1455425"/>
            <a:ext cx="3986100" cy="21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Stage 1: VQ-VAE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Train until convergence on images prioritizing sharp reconstructions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X → Z → X’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3" name="Google Shape;83;p11"/>
          <p:cNvSpPr/>
          <p:nvPr/>
        </p:nvSpPr>
        <p:spPr>
          <a:xfrm>
            <a:off x="4850700" y="1481825"/>
            <a:ext cx="3958500" cy="208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 txBox="1"/>
          <p:nvPr/>
        </p:nvSpPr>
        <p:spPr>
          <a:xfrm>
            <a:off x="4823100" y="1464200"/>
            <a:ext cx="3986100" cy="21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Stage 2: Transformer Prior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FREEZE VQ-VAE, learn to predict the next token in a sequence of encoder outputs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z, z, _ → z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4370400" y="2399400"/>
            <a:ext cx="430800" cy="34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62400" y="1473050"/>
            <a:ext cx="3958500" cy="208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12"/>
          <p:cNvSpPr txBox="1"/>
          <p:nvPr/>
        </p:nvSpPr>
        <p:spPr>
          <a:xfrm>
            <a:off x="584700" y="106675"/>
            <a:ext cx="56388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Overall Pipeline: </a:t>
            </a: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Generation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Google Shape;93;p12"/>
          <p:cNvSpPr txBox="1"/>
          <p:nvPr/>
        </p:nvSpPr>
        <p:spPr>
          <a:xfrm>
            <a:off x="334800" y="1455425"/>
            <a:ext cx="3986100" cy="21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Stage 2: VQ-VAE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Decode the new latent sequence into a image using the decoder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Z’ → X’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4" name="Google Shape;94;p12"/>
          <p:cNvSpPr/>
          <p:nvPr/>
        </p:nvSpPr>
        <p:spPr>
          <a:xfrm>
            <a:off x="4850700" y="1481825"/>
            <a:ext cx="3958500" cy="208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2"/>
          <p:cNvSpPr txBox="1"/>
          <p:nvPr/>
        </p:nvSpPr>
        <p:spPr>
          <a:xfrm>
            <a:off x="4823100" y="1464200"/>
            <a:ext cx="3986100" cy="21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Stage 1: Transformer Prior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Generate a random latent sequence </a:t>
            </a:r>
            <a:r>
              <a:rPr lang="en-US" sz="1800">
                <a:solidFill>
                  <a:schemeClr val="dk1"/>
                </a:solidFill>
              </a:rPr>
              <a:t>autoregressively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p(Z) → Z’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6" name="Google Shape;96;p12"/>
          <p:cNvSpPr/>
          <p:nvPr/>
        </p:nvSpPr>
        <p:spPr>
          <a:xfrm rot="10800000">
            <a:off x="4370400" y="2399400"/>
            <a:ext cx="430800" cy="34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/>
          <p:nvPr/>
        </p:nvSpPr>
        <p:spPr>
          <a:xfrm>
            <a:off x="4999925" y="2526775"/>
            <a:ext cx="3366300" cy="20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87959" y="235814"/>
            <a:ext cx="552706" cy="271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84701" y="106675"/>
            <a:ext cx="54393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VQ-VAE: Encoder </a:t>
            </a: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+ Decoder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87950" y="680250"/>
            <a:ext cx="85206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Encoder</a:t>
            </a:r>
            <a:r>
              <a:rPr lang="en-US" sz="1800">
                <a:solidFill>
                  <a:schemeClr val="dk1"/>
                </a:solidFill>
              </a:rPr>
              <a:t>: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Smaller ResNet style, 2 conv downsampling layers and 2 residual blocks</a:t>
            </a:r>
            <a:endParaRPr sz="1800">
              <a:solidFill>
                <a:schemeClr val="dk1"/>
              </a:solidFill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Decoder</a:t>
            </a:r>
            <a:r>
              <a:rPr lang="en-US" sz="1800">
                <a:solidFill>
                  <a:schemeClr val="dk1"/>
                </a:solidFill>
              </a:rPr>
              <a:t>: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More complex, refines inputs with self-attention before stacked </a:t>
            </a:r>
            <a:r>
              <a:rPr lang="en-US" sz="1800">
                <a:solidFill>
                  <a:schemeClr val="dk1"/>
                </a:solidFill>
              </a:rPr>
              <a:t>upsamples </a:t>
            </a:r>
            <a:r>
              <a:rPr lang="en-US" sz="1800">
                <a:solidFill>
                  <a:schemeClr val="dk1"/>
                </a:solidFill>
              </a:rPr>
              <a:t>with convolutional refinement and 2 residual blocks per layer</a:t>
            </a:r>
            <a:endParaRPr sz="1800">
              <a:solidFill>
                <a:schemeClr val="dk1"/>
              </a:solidFill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4999925" y="2526775"/>
            <a:ext cx="343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Residual block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6" name="Google Shape;10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6175" y="2880775"/>
            <a:ext cx="3138300" cy="12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187950" y="2482875"/>
            <a:ext cx="4742700" cy="1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Details: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4x spacial reduction 64x64 → 16x16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256 hidden channels per layer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ReLU activation function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5078875" y="4104625"/>
            <a:ext cx="115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3x3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6458425" y="4104625"/>
            <a:ext cx="115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1x1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84701" y="106675"/>
            <a:ext cx="54393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VQ-VAE: </a:t>
            </a: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Quantization Layer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87950" y="680250"/>
            <a:ext cx="85206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Quantizer: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Codebooks are set to be Exponential Moving Averages (EMA) of the encoder outputs to approximate K-means (as opposed to </a:t>
            </a:r>
            <a:r>
              <a:rPr lang="en-US" sz="1800">
                <a:solidFill>
                  <a:schemeClr val="dk1"/>
                </a:solidFill>
              </a:rPr>
              <a:t>learning them through gradient descent)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7" name="Google Shape;11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2223" y="2274675"/>
            <a:ext cx="45720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4482825" y="1889775"/>
            <a:ext cx="343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EMA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87950" y="2482875"/>
            <a:ext cx="4742700" cy="1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Details: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K = 512 codebooks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64 dimensional vectors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EMA decay = 0.99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3893975" y="1836575"/>
            <a:ext cx="4645200" cy="257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584698" y="106675"/>
            <a:ext cx="30462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VQ-VAE: </a:t>
            </a: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Loss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311700" y="2258725"/>
            <a:ext cx="85206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Loss: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Gradients </a:t>
            </a:r>
            <a:r>
              <a:rPr lang="en-US" sz="1800">
                <a:solidFill>
                  <a:schemeClr val="dk1"/>
                </a:solidFill>
              </a:rPr>
              <a:t>propagate</a:t>
            </a:r>
            <a:r>
              <a:rPr lang="en-US" sz="1800">
                <a:solidFill>
                  <a:schemeClr val="dk1"/>
                </a:solidFill>
              </a:rPr>
              <a:t> through Quantization</a:t>
            </a:r>
            <a:r>
              <a:rPr lang="en-US" sz="1800">
                <a:solidFill>
                  <a:schemeClr val="dk1"/>
                </a:solidFill>
              </a:rPr>
              <a:t> via </a:t>
            </a:r>
            <a:r>
              <a:rPr b="1" lang="en-US" sz="1800">
                <a:solidFill>
                  <a:schemeClr val="dk1"/>
                </a:solidFill>
              </a:rPr>
              <a:t>straight-through estimator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Opted for a L1 reconstruction loss (we found it promoted sharper images)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Trained with β=0.25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32569" t="0"/>
          <a:stretch/>
        </p:blipFill>
        <p:spPr>
          <a:xfrm>
            <a:off x="2325288" y="1145363"/>
            <a:ext cx="4331826" cy="100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</a:t>
            </a:r>
            <a:r>
              <a:rPr b="1" lang="en-US" sz="2400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84700" y="106675"/>
            <a:ext cx="6796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Results:</a:t>
            </a: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VQ-VAE Training</a:t>
            </a:r>
            <a:endParaRPr b="1"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35" name="Google Shape;13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00" y="961375"/>
            <a:ext cx="4750299" cy="339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2200" y="875207"/>
            <a:ext cx="4012964" cy="33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187959" y="235814"/>
            <a:ext cx="552706" cy="271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84700" y="106675"/>
            <a:ext cx="30132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Transformer Prior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11700" y="661000"/>
            <a:ext cx="52356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Decoder-only: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GPT-style architecture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Decoder only, causal self-attention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Uses learnt token and positional embeddings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Outputs a softmax for predicted next token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Det</a:t>
            </a:r>
            <a:r>
              <a:rPr b="1" lang="en-US" sz="1800">
                <a:solidFill>
                  <a:schemeClr val="dk1"/>
                </a:solidFill>
              </a:rPr>
              <a:t>ails: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K = 512 vocab size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16x16 = 256 sequence length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</a:t>
            </a:r>
            <a:r>
              <a:rPr baseline="-25000" lang="en-US" sz="1800">
                <a:solidFill>
                  <a:schemeClr val="dk1"/>
                </a:solidFill>
              </a:rPr>
              <a:t>model </a:t>
            </a:r>
            <a:r>
              <a:rPr lang="en-US" sz="1800">
                <a:solidFill>
                  <a:schemeClr val="dk1"/>
                </a:solidFill>
              </a:rPr>
              <a:t>= 256</a:t>
            </a:r>
            <a:endParaRPr baseline="-2500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6 layers, 4 heads and 0.1 dropout Rate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4" name="Google Shape;14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422" y="1112225"/>
            <a:ext cx="3054250" cy="3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/>
        </p:nvSpPr>
        <p:spPr>
          <a:xfrm>
            <a:off x="187959" y="235814"/>
            <a:ext cx="552706" cy="271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584700" y="106675"/>
            <a:ext cx="4561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Conditioning and Guidance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311700" y="661000"/>
            <a:ext cx="85206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Conditioning mechanism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12 binary CelebA attributes, each encoded as: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True / False / Masked token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Attribute tokens are </a:t>
            </a:r>
            <a:r>
              <a:rPr b="1" lang="en-US" sz="1800">
                <a:solidFill>
                  <a:schemeClr val="dk1"/>
                </a:solidFill>
              </a:rPr>
              <a:t>prepended</a:t>
            </a:r>
            <a:r>
              <a:rPr lang="en-US" sz="1800">
                <a:solidFill>
                  <a:schemeClr val="dk1"/>
                </a:solidFill>
              </a:rPr>
              <a:t> to the token sequence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Attention structure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Attribute tokens attend freely to each other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Image tokens attend to: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All attribute tokens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Previous image tokens only (causal mask)</a:t>
            </a:r>
            <a:endParaRPr sz="1800">
              <a:solidFill>
                <a:schemeClr val="dk1"/>
              </a:solidFill>
            </a:endParaRPr>
          </a:p>
          <a:p>
            <a:pPr indent="0" lvl="0" marL="1143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87950" y="916825"/>
            <a:ext cx="4451100" cy="3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Generated </a:t>
            </a:r>
            <a:r>
              <a:rPr b="1" lang="en-US" sz="1800">
                <a:solidFill>
                  <a:schemeClr val="dk1"/>
                </a:solidFill>
              </a:rPr>
              <a:t>without attribute conditioning</a:t>
            </a:r>
            <a:r>
              <a:rPr lang="en-US" sz="1800">
                <a:solidFill>
                  <a:schemeClr val="dk1"/>
                </a:solidFill>
              </a:rPr>
              <a:t>, using only the learned Transformer prior over VQ-VAE latent tokens.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model produces </a:t>
            </a:r>
            <a:r>
              <a:rPr b="1" lang="en-US" sz="1800">
                <a:solidFill>
                  <a:schemeClr val="dk1"/>
                </a:solidFill>
              </a:rPr>
              <a:t>globally coherent face structures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Some artifacts and local inconsistencies remain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584701" y="106675"/>
            <a:ext cx="6298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Results:</a:t>
            </a: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Generation</a:t>
            </a:r>
            <a:endParaRPr b="1"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11325"/>
            <a:ext cx="4327499" cy="1798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84700" y="106675"/>
            <a:ext cx="50073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Results:</a:t>
            </a: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Guided Generation</a:t>
            </a:r>
            <a:endParaRPr b="1"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92450" y="758575"/>
            <a:ext cx="48954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model produces </a:t>
            </a:r>
            <a:r>
              <a:rPr b="1" lang="en-US" sz="1800">
                <a:solidFill>
                  <a:schemeClr val="dk1"/>
                </a:solidFill>
              </a:rPr>
              <a:t>recognizable, </a:t>
            </a:r>
            <a:r>
              <a:rPr b="1" lang="en-US" sz="1800">
                <a:solidFill>
                  <a:schemeClr val="dk1"/>
                </a:solidFill>
              </a:rPr>
              <a:t>globally coherent faces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Lower quality for rare “Combinations” and posing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Facial structure, pose, and symmetry are largely consistent, and it presents good diversity.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0925" y="2314400"/>
            <a:ext cx="3041824" cy="21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2125" y="1119225"/>
            <a:ext cx="2595626" cy="108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584700" y="106675"/>
            <a:ext cx="50073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Results:</a:t>
            </a: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Guided Generation</a:t>
            </a:r>
            <a:endParaRPr b="1"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5" name="Google Shape;17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550" y="1005250"/>
            <a:ext cx="3014475" cy="30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575" y="1005250"/>
            <a:ext cx="3014475" cy="30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740588" y="4019725"/>
            <a:ext cx="30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Male, brown hair, smiling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4420600" y="4019725"/>
            <a:ext cx="30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Bald</a:t>
            </a:r>
            <a:r>
              <a:rPr lang="en-US" sz="1800">
                <a:solidFill>
                  <a:schemeClr val="dk2"/>
                </a:solidFill>
              </a:rPr>
              <a:t>, eyeglasses, smiling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584700" y="106675"/>
            <a:ext cx="50073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Results:</a:t>
            </a: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Guided Generation</a:t>
            </a:r>
            <a:endParaRPr b="1"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430925" y="4019725"/>
            <a:ext cx="37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Female, blonde, smiling, attractive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4070525" y="4019725"/>
            <a:ext cx="409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Female, old, not smiling, not attractive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5" y="1093575"/>
            <a:ext cx="2956350" cy="295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9625" y="1093575"/>
            <a:ext cx="2956350" cy="295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584700" y="106675"/>
            <a:ext cx="50073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Results:</a:t>
            </a: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Guided Generation</a:t>
            </a:r>
            <a:endParaRPr b="1"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2120108" y="831825"/>
            <a:ext cx="49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Male, bald, glasses, smiling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425" y="1293525"/>
            <a:ext cx="2409950" cy="2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7775" y="1294275"/>
            <a:ext cx="2408450" cy="240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28625" y="1294275"/>
            <a:ext cx="2408450" cy="240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958604" y="3703475"/>
            <a:ext cx="21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w = 0.0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3520204" y="3703475"/>
            <a:ext cx="21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w = 0.5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6081804" y="3703475"/>
            <a:ext cx="21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w = 1.0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584700" y="106675"/>
            <a:ext cx="50073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Results:</a:t>
            </a: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Guided Generation</a:t>
            </a:r>
            <a:endParaRPr b="1"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2120108" y="831825"/>
            <a:ext cx="49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Male, bald, glasses, smiling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958604" y="3703475"/>
            <a:ext cx="21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w = 2.0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3520204" y="3703475"/>
            <a:ext cx="21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w = 3.0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6081804" y="3703475"/>
            <a:ext cx="21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w = 5.0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2" name="Google Shape;2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550" y="1294275"/>
            <a:ext cx="2408450" cy="240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4587" y="1294275"/>
            <a:ext cx="2408450" cy="240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28600" y="1252263"/>
            <a:ext cx="2492475" cy="249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/>
        </p:nvSpPr>
        <p:spPr>
          <a:xfrm>
            <a:off x="187959" y="235814"/>
            <a:ext cx="552706" cy="271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08	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584700" y="106675"/>
            <a:ext cx="2024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Conclusion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311700" y="758575"/>
            <a:ext cx="85206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We implemented a </a:t>
            </a:r>
            <a:r>
              <a:rPr b="1" lang="en-US" sz="1800">
                <a:solidFill>
                  <a:schemeClr val="dk1"/>
                </a:solidFill>
              </a:rPr>
              <a:t>two-stage image generation pipeline</a:t>
            </a:r>
            <a:r>
              <a:rPr lang="en-US" sz="1800">
                <a:solidFill>
                  <a:schemeClr val="dk1"/>
                </a:solidFill>
              </a:rPr>
              <a:t> combining a VQ-VAE tokenizer with an autoregressive Transformer prior.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VQ-VAE learns a </a:t>
            </a:r>
            <a:r>
              <a:rPr b="1" lang="en-US" sz="1800">
                <a:solidFill>
                  <a:schemeClr val="dk1"/>
                </a:solidFill>
              </a:rPr>
              <a:t>compact discrete latent representation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Transformer prior successfully models the </a:t>
            </a:r>
            <a:r>
              <a:rPr b="1" lang="en-US" sz="1800">
                <a:solidFill>
                  <a:schemeClr val="dk1"/>
                </a:solidFill>
              </a:rPr>
              <a:t>distribution of latent tokens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Attribute conditioning via </a:t>
            </a:r>
            <a:r>
              <a:rPr b="1" lang="en-US" sz="1800">
                <a:solidFill>
                  <a:schemeClr val="dk1"/>
                </a:solidFill>
              </a:rPr>
              <a:t>prefix tokens</a:t>
            </a:r>
            <a:r>
              <a:rPr lang="en-US" sz="1800">
                <a:solidFill>
                  <a:schemeClr val="dk1"/>
                </a:solidFill>
              </a:rPr>
              <a:t> and </a:t>
            </a:r>
            <a:r>
              <a:rPr b="1" lang="en-US" sz="1800">
                <a:solidFill>
                  <a:schemeClr val="dk1"/>
                </a:solidFill>
              </a:rPr>
              <a:t>classifier-free guidance</a:t>
            </a:r>
            <a:r>
              <a:rPr lang="en-US" sz="1800">
                <a:solidFill>
                  <a:schemeClr val="dk1"/>
                </a:solidFill>
              </a:rPr>
              <a:t> provides control but also presents a challenge in terms of local consistency.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08	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584700" y="106675"/>
            <a:ext cx="2024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Conclusion</a:t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311700" y="661000"/>
            <a:ext cx="85206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Limitations &amp; Future Work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Image quality is constrained by resolution and latent compression.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Future improvements would include larger codebooks, higher-resolution latents, perceptual or adversarial losses (VQ-GAN style) or possignly more complex architectures, and stronger priors.</a:t>
            </a:r>
            <a:endParaRPr sz="18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1143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/>
        </p:nvSpPr>
        <p:spPr>
          <a:xfrm>
            <a:off x="187959" y="235814"/>
            <a:ext cx="55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  <a:r>
              <a:rPr b="1" i="0" lang="en-US" sz="2400" u="none" cap="none" strike="noStrike">
                <a:solidFill>
                  <a:srgbClr val="083C92"/>
                </a:solidFill>
                <a:latin typeface="Noto Sans"/>
                <a:ea typeface="Noto Sans"/>
                <a:cs typeface="Noto Sans"/>
                <a:sym typeface="Noto Sans"/>
              </a:rPr>
              <a:t>	</a:t>
            </a:r>
            <a:endParaRPr b="1" i="0" sz="2400" u="none" cap="none" strike="noStrike">
              <a:solidFill>
                <a:srgbClr val="083C9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584700" y="106675"/>
            <a:ext cx="2024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311700" y="1956950"/>
            <a:ext cx="85206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Thank you for your (masked) attention.</a:t>
            </a:r>
            <a:endParaRPr b="1"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